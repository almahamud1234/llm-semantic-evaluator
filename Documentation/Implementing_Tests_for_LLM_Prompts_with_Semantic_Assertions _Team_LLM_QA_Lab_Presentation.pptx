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841FD-4486-5763-FA6A-E54B03878F13}" v="127" dt="2026-03-24T12:57:16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22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8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OpenAI gpt-5-mini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factual</c:v>
                </c:pt>
                <c:pt idx="1">
                  <c:v>definitions</c:v>
                </c:pt>
                <c:pt idx="2">
                  <c:v>history</c:v>
                </c:pt>
                <c:pt idx="3">
                  <c:v>science</c:v>
                </c:pt>
                <c:pt idx="4">
                  <c:v>math</c:v>
                </c:pt>
                <c:pt idx="5">
                  <c:v>reasoning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95.7</c:v>
                </c:pt>
                <c:pt idx="1">
                  <c:v>95.5</c:v>
                </c:pt>
                <c:pt idx="2">
                  <c:v>95</c:v>
                </c:pt>
                <c:pt idx="3">
                  <c:v>95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5-4A15-A8D2-BBBEAD29CC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Ollama llama3.2:1b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factual</c:v>
                </c:pt>
                <c:pt idx="1">
                  <c:v>definitions</c:v>
                </c:pt>
                <c:pt idx="2">
                  <c:v>history</c:v>
                </c:pt>
                <c:pt idx="3">
                  <c:v>science</c:v>
                </c:pt>
                <c:pt idx="4">
                  <c:v>math</c:v>
                </c:pt>
                <c:pt idx="5">
                  <c:v>reasoning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39.1</c:v>
                </c:pt>
                <c:pt idx="1">
                  <c:v>27.3</c:v>
                </c:pt>
                <c:pt idx="2">
                  <c:v>25</c:v>
                </c:pt>
                <c:pt idx="3">
                  <c:v>50</c:v>
                </c:pt>
                <c:pt idx="4">
                  <c:v>65.2</c:v>
                </c:pt>
                <c:pt idx="5">
                  <c:v>59.1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05-4A15-A8D2-BBBEAD29CC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24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BAFC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424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930DB-422F-4099-AAD2-5DFFCD507914}" type="datetimeFigureOut">
              <a:t>25.03.26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C4E58-D8C3-447D-9EC0-B4340CEC61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83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A7E8C">
              <a:alpha val="12000"/>
            </a:srgbClr>
          </a:solidFill>
          <a:ln w="12700">
            <a:solidFill>
              <a:srgbClr val="0A7E8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Tests for LLM Prompts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Semantic Assertions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395728"/>
            <a:ext cx="4114800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— .NET/C#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Abdulla AL Mahamud Rosi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8BAFC0"/>
                </a:solidFill>
                <a:latin typeface="Calibri" pitchFamily="34" charset="0"/>
                <a:cs typeface="Calibri" pitchFamily="34" charset="-120"/>
              </a:rPr>
              <a:t>Mr.Nr:1519699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 University of Applied Sciences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Project 25/26-08  |  Module: Software Engineering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40690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42435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40690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42435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269748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Grok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40690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42435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61772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406908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142435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653796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C#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COVER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023360" cy="100584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64008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string matching fails for LLM testing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170432"/>
            <a:ext cx="4023360" cy="100584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4846320" y="1170432"/>
            <a:ext cx="64008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5074920" y="1280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2356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645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 &amp; key interfaces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4023360" cy="100584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457200" y="2359152"/>
            <a:ext cx="64008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8580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2450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LLM-as-Judge + Majority Vote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359152"/>
            <a:ext cx="4023360" cy="100584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846320" y="2359152"/>
            <a:ext cx="64008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507492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23560" y="2450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235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configuration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47872"/>
            <a:ext cx="4023360" cy="100584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457200" y="3547872"/>
            <a:ext cx="64008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68580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4440" y="3639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3444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slides — overview, categories, distributions, failure analysis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547872"/>
            <a:ext cx="4023360" cy="100584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4846320" y="3547872"/>
            <a:ext cx="64008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5074920" y="3657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623560" y="3639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23560" y="4023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tests, zero failures across 6 test files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Testing LLMs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347472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64008" cy="3474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Testing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Exact string match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Deterministic output assumed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BLEU / ROUGE penalise valid paraphrases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False failures on semantically correct answers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3931920" cy="347472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64008" cy="3474720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Testing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Embedding cosine similarity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LLM-as-a-Judge (G-Eval style)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697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Majority vote across 3 runs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200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Tolerates valid surface-form variation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factually correct answer, many valid surface forms → string equality always fails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DESIGN</a:t>
            </a:r>
            <a:endParaRPr lang="en-US" sz="1100" dirty="0"/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483B177-B264-7CFE-BC3A-7DD6559EB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9642" y="636326"/>
            <a:ext cx="5285035" cy="4860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Validation Strategy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VALIDATORS  +  MAJORITY VOTE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228600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64008" cy="22860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1 — Embedding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 expected + actual output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Cosine similarity score [−1, 1]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505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Threshold: ≥ 0.85 to 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Fast, consistent, no extra API cost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3931920" cy="228600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64008" cy="2286000"/>
          </a:xfrm>
          <a:prstGeom prst="rect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2 — LLM Judge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6642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G-Eval style chain-of-thought prompt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 → SCORE: 1–10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505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Threshold: ≥ 8 to PASS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short/paraphrased outputs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49843" y="1843471"/>
            <a:ext cx="1446322" cy="631551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3315724" y="1877591"/>
            <a:ext cx="1446322" cy="30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Logic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2783" y="2095272"/>
            <a:ext cx="1463381" cy="413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validator can pass a run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123444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640080" y="36393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 —  3 runs per test case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if ≥ 2 / 3 runs pass  |  Absorbs API jitter, rate-limit errors &amp; atypical outputs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0" y="3639312"/>
            <a:ext cx="9144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DBE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530352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0352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55080" y="3639312"/>
            <a:ext cx="9144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DBE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635508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3639312"/>
            <a:ext cx="9144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740664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0664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83880" y="3968496"/>
            <a:ext cx="228600" cy="0"/>
          </a:xfrm>
          <a:prstGeom prst="line">
            <a:avLst/>
          </a:prstGeom>
          <a:noFill/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Shape 35"/>
          <p:cNvSpPr/>
          <p:nvPr/>
        </p:nvSpPr>
        <p:spPr>
          <a:xfrm>
            <a:off x="8412480" y="3730752"/>
            <a:ext cx="548640" cy="47548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8412480" y="373075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Components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 ·  CONFIG: appsettings.json  ·  PROVIDERS: openai / grok / ollama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8580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TestConfiguration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6093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appsettings.json. Validates API keys, thresholds &amp; provider at startup. Zero code changes across providers.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17043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846320" y="1170432"/>
            <a:ext cx="64008" cy="1051560"/>
          </a:xfrm>
          <a:prstGeom prst="rect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07492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LLMClientFactory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6093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pattern — OpenAIClient reused for OpenAI &amp; Grok (compatible API). OllamaClient handles local protocol differences.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8580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EmbeddingValidator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7980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embedding API twice, computes cosine similarity. Auto-fails empty responses without API call. Catches network errors safely.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35915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4846320" y="2359152"/>
            <a:ext cx="64008" cy="1051560"/>
          </a:xfrm>
          <a:prstGeom prst="rect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5074920" y="2450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LLMJudgeValidator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7980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G-Eval prompt, sends to judge LLM. Two-stage regex extracts 1–10 score from free-form response.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54787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457200" y="354787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68580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CosineSimilarityCalculator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9867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dot-product. Clamped to [−1,1]. Zero vector → 0.0. Exposes InterpretScore() &amp; PassesThreshold() helpers.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54787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4846320" y="3547872"/>
            <a:ext cx="64008" cy="1051560"/>
          </a:xfrm>
          <a:prstGeom prst="rect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5074920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ReportGenerator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398678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report.txt · report.json · report.csv. Auto-opens interactive HTML dashboard in browser on completion.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TEST CASES  ·  7 KNOWLEDGE DOMAINS  ·  3 RUNS EACH  ·  MAJORITY VOTE 2/3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20240" cy="1371600"/>
          </a:xfrm>
          <a:prstGeom prst="rect">
            <a:avLst/>
          </a:prstGeom>
          <a:solidFill>
            <a:srgbClr val="142435"/>
          </a:solidFill>
          <a:ln w="12700">
            <a:solidFill>
              <a:srgbClr val="3DB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73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Pass Rate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920240" cy="1371600"/>
          </a:xfrm>
          <a:prstGeom prst="rect">
            <a:avLst/>
          </a:prstGeom>
          <a:solidFill>
            <a:srgbClr val="142435"/>
          </a:solidFill>
          <a:ln w="127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2606040" y="1280160"/>
            <a:ext cx="173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201168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Pass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1920240" cy="1371600"/>
          </a:xfrm>
          <a:prstGeom prst="rect">
            <a:avLst/>
          </a:prstGeom>
          <a:solidFill>
            <a:srgbClr val="142435"/>
          </a:solidFill>
          <a:ln w="12700">
            <a:solidFill>
              <a:srgbClr val="4DD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4663440" y="1280160"/>
            <a:ext cx="173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1188720"/>
            <a:ext cx="1920240" cy="1371600"/>
          </a:xfrm>
          <a:prstGeom prst="rect">
            <a:avLst/>
          </a:prstGeom>
          <a:solidFill>
            <a:srgbClr val="142435"/>
          </a:solidFill>
          <a:ln w="12700">
            <a:solidFill>
              <a:srgbClr val="12A3B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6720840" y="1280160"/>
            <a:ext cx="17373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20840" y="2011680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199339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2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gpt-5-mini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llama3.2:1b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D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/ Failed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/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/ 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D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Embedding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  (below 0.85 threshold)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  (below 0.85 threshold)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D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Judge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 /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 /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D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 (dims)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text-embedding-3-small (1536d)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nomic-embed-text (768d)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D9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Pass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(OR logic essential)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8F4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Neither — judge miscalibrated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7E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Pass Rates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VS OLLAMA ACROSS 7 DOMAINS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143000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143000"/>
            <a:ext cx="2697480" cy="114300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6217920" y="1143000"/>
            <a:ext cx="64008" cy="1143000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6446520" y="1234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158191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 math &amp; reasoning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failures — model more accurate than expected output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17920" y="2423160"/>
            <a:ext cx="2697480" cy="132588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0"/>
          <p:cNvSpPr/>
          <p:nvPr/>
        </p:nvSpPr>
        <p:spPr>
          <a:xfrm>
            <a:off x="6217920" y="2423160"/>
            <a:ext cx="64008" cy="13258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1"/>
          <p:cNvSpPr/>
          <p:nvPr/>
        </p:nvSpPr>
        <p:spPr>
          <a:xfrm>
            <a:off x="6446520" y="2514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28529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math (65.2%)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definitions (27.3%) &amp; history (25.0%)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judge miscalibration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17920" y="3886200"/>
            <a:ext cx="2697480" cy="8229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7" name="Shape 14"/>
          <p:cNvSpPr/>
          <p:nvPr/>
        </p:nvSpPr>
        <p:spPr>
          <a:xfrm>
            <a:off x="6217920" y="3886200"/>
            <a:ext cx="64008" cy="822960"/>
          </a:xfrm>
          <a:prstGeom prst="rect">
            <a:avLst/>
          </a:prstGeom>
          <a:solidFill>
            <a:srgbClr val="12A3B4"/>
          </a:solidFill>
          <a:ln w="12700">
            <a:solidFill>
              <a:srgbClr val="12A3B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5"/>
          <p:cNvSpPr/>
          <p:nvPr/>
        </p:nvSpPr>
        <p:spPr>
          <a:xfrm>
            <a:off x="6446520" y="39593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Logic Impact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46520" y="42702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emb score 0.51 — nearly all OpenAI passes via judge path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 Distribution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SCORE DISTRIBUTIONS REVEAL ABOUT EACH PROVIDER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3931920" cy="109728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64008" cy="10972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85800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Bimodal Distribution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cluster at 1–3:</a:t>
            </a: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judge penalised correct answers
</a:t>
            </a:r>
            <a:r>
              <a:rPr lang="en-US" sz="95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cluster at 8–10:</a:t>
            </a: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cases where it scored accurately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3931920" cy="109728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4754880" y="3703320"/>
            <a:ext cx="64008" cy="1097280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4983480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Right-Skewed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41422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majority cluster at 9–10
</a:t>
            </a: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judge score: </a:t>
            </a:r>
            <a:r>
              <a:rPr lang="en-US" sz="95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9.7/10</a:t>
            </a:r>
            <a:r>
              <a:rPr lang="en-US" sz="9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consistent rubric application
</a:t>
            </a:r>
            <a:r>
              <a:rPr lang="en-US" sz="95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gpt-5-mini reliably follows chain-of-thought prompt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73E0FB9-035B-868E-447E-028F666CD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29" y="1241746"/>
            <a:ext cx="4580531" cy="2327347"/>
          </a:xfrm>
          <a:prstGeom prst="rect">
            <a:avLst/>
          </a:prstGeom>
        </p:spPr>
      </p:pic>
      <p:pic>
        <p:nvPicPr>
          <p:cNvPr id="20" name="Picture 19" descr="A screenshot of a graph&#10;&#10;AI-generated content may be incorrect.">
            <a:extLst>
              <a:ext uri="{FF2B5EF4-FFF2-40B4-BE49-F238E27FC236}">
                <a16:creationId xmlns:a16="http://schemas.microsoft.com/office/drawing/2014/main" id="{206ABDC6-BC12-B40E-9072-2B9747C0A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940" y="1240337"/>
            <a:ext cx="4589063" cy="2321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OPENAI: 3 FAILURES  ·  OLLAMA: 72 FAILURES — VERY DIFFERENT ROOT CAUSES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361188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64008" cy="3611880"/>
          </a:xfrm>
          <a:prstGeom prst="rect">
            <a:avLst/>
          </a:prstGeom>
          <a:solidFill>
            <a:srgbClr val="E8924A"/>
          </a:solidFill>
          <a:ln w="12700">
            <a:solidFill>
              <a:srgbClr val="E892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85800" y="1216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3 Failures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618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model gave a MORE accurate answer than the expected output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2084832"/>
            <a:ext cx="35661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E892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77240" y="21214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history_020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1214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circumnavigate globe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3591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Magellan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560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Juan Elcano ✓ (Magellan died en route)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953512"/>
            <a:ext cx="35661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E892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7724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factual_014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9900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desert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227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Sahara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4290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Antarctic Desert 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" y="3822192"/>
            <a:ext cx="356616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E892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Text 20"/>
          <p:cNvSpPr/>
          <p:nvPr/>
        </p:nvSpPr>
        <p:spPr>
          <a:xfrm>
            <a:off x="777240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science_013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858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unit of matter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096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atom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2976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elementary particles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143000"/>
            <a:ext cx="3931920" cy="361188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7" name="Shape 25"/>
          <p:cNvSpPr/>
          <p:nvPr/>
        </p:nvSpPr>
        <p:spPr>
          <a:xfrm>
            <a:off x="4754880" y="1143000"/>
            <a:ext cx="64008" cy="36118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4983480" y="1216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72 Failures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1618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judge miscalibration — not factual errors in responses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83480" y="2084832"/>
            <a:ext cx="35661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5074920" y="2130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Nazi Germany leader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"Adolf Hitler. He served as Fuehrer from 1934 until his death in 1945."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4920" y="27249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score: 1/10  — "only identifies Hitler without specifying his role"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83480" y="3429000"/>
            <a:ext cx="3566160" cy="1078992"/>
          </a:xfrm>
          <a:prstGeom prst="rect">
            <a:avLst/>
          </a:prstGeom>
          <a:solidFill>
            <a:srgbClr val="0D1B2A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5074920" y="3474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Capital of France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"The capital of France is Paris."  |  Expected: "Paris"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74920" y="40233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score: 6/10  — "sentence does not carry the same meaning as the word"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Text 37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Paradox: Ollama avg embedding score (0.64) &gt; OpenAI (0.51) — yet 44.6% vs 97.7% pass rate. Judge quality is the deciding factor.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TESTS  ·  0 FAILURES  ·  xUNIT + MOQ  ·  NO LIVE API CALLS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640080" y="1307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JsonTestLoaderTests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8016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loading, validation, defaults, error paths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17043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4846320" y="117043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5029200" y="13075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0" y="12618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CosineSimilarityCalculatorTests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1645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correctness, edge cases, threshold &amp; interpret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Shape 16"/>
          <p:cNvSpPr/>
          <p:nvPr/>
        </p:nvSpPr>
        <p:spPr>
          <a:xfrm>
            <a:off x="457200" y="235915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64008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2450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EmbeddingValidatorTests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8016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provider — pass/fail, empty inputs, API errors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235915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3" name="Shape 21"/>
          <p:cNvSpPr/>
          <p:nvPr/>
        </p:nvSpPr>
        <p:spPr>
          <a:xfrm>
            <a:off x="4846320" y="235915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5029200" y="24963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669280" y="24505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LLMJudgeValidatorTests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client — score parsing, formats, edge cases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4787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8" name="Shape 26"/>
          <p:cNvSpPr/>
          <p:nvPr/>
        </p:nvSpPr>
        <p:spPr>
          <a:xfrm>
            <a:off x="457200" y="354787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Text 27"/>
          <p:cNvSpPr/>
          <p:nvPr/>
        </p:nvSpPr>
        <p:spPr>
          <a:xfrm>
            <a:off x="640080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80160" y="3639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ReportGeneratorTests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8016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 I/O — txt, json, csv creation &amp; content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547872"/>
            <a:ext cx="4023360" cy="105156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3" name="Shape 31"/>
          <p:cNvSpPr/>
          <p:nvPr/>
        </p:nvSpPr>
        <p:spPr>
          <a:xfrm>
            <a:off x="4846320" y="3547872"/>
            <a:ext cx="64008" cy="10515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5029200" y="3685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669280" y="36393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TestRunnerTests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vote, aggregation, error handling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test  →  Failed: 0   Passed: 85   Skipped: 0   Total: 85   Duration: ~11s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42435"/>
          </a:solidFill>
          <a:ln w="12700">
            <a:solidFill>
              <a:srgbClr val="14243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|  Frankfurt UAS  |  ML Project 25/26-08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 ·  LIMITATIONS  ·  FUTURE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4672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64008" cy="804672"/>
          </a:xfrm>
          <a:prstGeom prst="rect">
            <a:avLst/>
          </a:prstGeom>
          <a:solidFill>
            <a:srgbClr val="3DBE7A"/>
          </a:solidFill>
          <a:ln w="12700">
            <a:solidFill>
              <a:srgbClr val="3DBE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13232" y="1243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B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logic is essential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600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OpenAI passes via judge path — avg embedding score 0.51 is well below the 0.85 threshold. Without OR, it would fail.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8229600" cy="804672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64008" cy="80467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13232" y="2157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LLMs fail as judges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514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llama3.2:1b (1B params) lacks instruction-following for rubric scoring. Minimum 7–8B recommended for the judge role.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8229600" cy="804672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64008" cy="804672"/>
          </a:xfrm>
          <a:prstGeom prst="rect">
            <a:avLst/>
          </a:prstGeom>
          <a:solidFill>
            <a:srgbClr val="E8924A"/>
          </a:solidFill>
          <a:ln w="12700">
            <a:solidFill>
              <a:srgbClr val="E8924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713232" y="3072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Short-output structural limitation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Single-word expected outputs consistently fail embedding check. Threshold adjustment to 0.70–0.75 advisable for such cases.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8229600" cy="804672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64008" cy="804672"/>
          </a:xfrm>
          <a:prstGeom prst="rect">
            <a:avLst/>
          </a:prstGeom>
          <a:solidFill>
            <a:srgbClr val="4DD9EC"/>
          </a:solidFill>
          <a:ln w="12700">
            <a:solidFill>
              <a:srgbClr val="4DD9E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713232" y="3986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Task.WhenAll + BERTScore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 embedding + judge API calls per run (~50% speedup). Add BERTScore as complementary metric for longer reference texts.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A7E8C">
              <a:alpha val="12000"/>
            </a:srgbClr>
          </a:solidFill>
          <a:ln w="12700">
            <a:solidFill>
              <a:srgbClr val="0A7E8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D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2542032"/>
            <a:ext cx="3657600" cy="0"/>
          </a:xfrm>
          <a:prstGeom prst="line">
            <a:avLst/>
          </a:prstGeom>
          <a:noFill/>
          <a:ln w="1905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</a:t>
            </a: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Semantic Evaluator  ·  ML Project 25/26-08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1363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</a:t>
            </a: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C#  ·  xUnit  ·  Moq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4838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</a:t>
            </a: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OpenAI  ·  44.6% Ollama  ·  130 test cases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8313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</a:t>
            </a:r>
            <a:r>
              <a:rPr lang="en-US" sz="1100" dirty="0">
                <a:solidFill>
                  <a:srgbClr val="E8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passing  ·  0 failures  ·  6 test files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297680"/>
            <a:ext cx="4572000" cy="457200"/>
          </a:xfrm>
          <a:prstGeom prst="rect">
            <a:avLst/>
          </a:prstGeom>
          <a:solidFill>
            <a:srgbClr val="142435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available in project repository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1277</Words>
  <Application>Microsoft Macintosh PowerPoint</Application>
  <PresentationFormat>On-screen Show (16:9)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Implementing Tests for LLM Prompts with Semantic Assertions</dc:title>
  <dc:subject>PptxGenJS Presentation</dc:subject>
  <dc:creator>PptxGenJS</dc:creator>
  <cp:lastModifiedBy>abdulla a lmhamud rosi rosi</cp:lastModifiedBy>
  <cp:revision>89</cp:revision>
  <dcterms:created xsi:type="dcterms:W3CDTF">2026-03-24T12:38:56Z</dcterms:created>
  <dcterms:modified xsi:type="dcterms:W3CDTF">2026-03-25T19:36:32Z</dcterms:modified>
</cp:coreProperties>
</file>